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6400" b="1">
                <a:solidFill>
                  <a:srgbClr val="00F2FE"/>
                </a:solidFill>
                <a:latin typeface="Arial"/>
              </a:defRPr>
            </a:pPr>
            <a:r>
              <a:t>INDIA.RUNS</a:t>
            </a:r>
          </a:p>
          <a:p>
            <a:pPr>
              <a:defRPr sz="2400" i="1">
                <a:solidFill>
                  <a:srgbClr val="FFFFFF"/>
                </a:solidFill>
                <a:latin typeface="Arial"/>
              </a:defRPr>
            </a:pPr>
            <a:r>
              <a:t>Build what next India runs 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800">
                <a:solidFill>
                  <a:srgbClr val="00F2FE"/>
                </a:solidFill>
                <a:latin typeface="Arial"/>
              </a:defRPr>
            </a:pPr>
            <a:r>
              <a:t>Team Name : </a:t>
            </a:r>
            <a:r>
              <a:rPr b="0">
                <a:solidFill>
                  <a:srgbClr val="FFFFFF"/>
                </a:solidFill>
              </a:rPr>
              <a:t>Rakesh_Nulu</a:t>
            </a:r>
          </a:p>
          <a:p>
            <a:pPr>
              <a:defRPr b="1" sz="1800">
                <a:solidFill>
                  <a:srgbClr val="00F2FE"/>
                </a:solidFill>
                <a:latin typeface="Arial"/>
              </a:defRPr>
            </a:pPr>
            <a:r>
              <a:t>Team Leader Name : </a:t>
            </a:r>
            <a:r>
              <a:rPr b="0">
                <a:solidFill>
                  <a:srgbClr val="FFFFFF"/>
                </a:solidFill>
              </a:rPr>
              <a:t>Rakesh_Nulu</a:t>
            </a:r>
          </a:p>
          <a:p>
            <a:pPr>
              <a:defRPr b="1" sz="1800">
                <a:solidFill>
                  <a:srgbClr val="00F2FE"/>
                </a:solidFill>
                <a:latin typeface="Arial"/>
              </a:defRPr>
            </a:pPr>
            <a:r>
              <a:t>Problem Statement : </a:t>
            </a:r>
            <a:r>
              <a:rPr b="0">
                <a:solidFill>
                  <a:srgbClr val="FFFFFF"/>
                </a:solidFill>
              </a:rPr>
              <a:t>Intelligent Candidate Discovery &amp; Ranking Challenge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F2FE"/>
                </a:solidFill>
                <a:latin typeface="Arial"/>
              </a:defRPr>
            </a:pPr>
            <a:r>
              <a:t>Solution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800">
                <a:solidFill>
                  <a:srgbClr val="00F2FE"/>
                </a:solidFill>
                <a:latin typeface="Arial"/>
              </a:defRPr>
            </a:pPr>
            <a:r>
              <a:t>What is your proposed solution?</a:t>
            </a:r>
          </a:p>
          <a:p>
            <a:pPr lvl="1">
              <a:defRPr b="0" sz="1500">
                <a:solidFill>
                  <a:srgbClr val="FFFFFF"/>
                </a:solidFill>
                <a:latin typeface="Arial"/>
              </a:defRPr>
            </a:pPr>
            <a:r>
              <a:t>An end-to-end Python-based heuristic ranking engine (rank.py) scoring candidates locally.</a:t>
            </a:r>
          </a:p>
          <a:p>
            <a:pPr lvl="1">
              <a:defRPr b="0" sz="1500">
                <a:solidFill>
                  <a:srgbClr val="FFFFFF"/>
                </a:solidFill>
                <a:latin typeface="Arial"/>
              </a:defRPr>
            </a:pPr>
            <a:r>
              <a:t>Completes full 100K ranking pipeline in ~15 seconds using &lt;80MB of RAM on standard CPU.</a:t>
            </a:r>
          </a:p>
          <a:p>
            <a:pPr lvl="1">
              <a:defRPr b="0" sz="1500">
                <a:solidFill>
                  <a:srgbClr val="FFFFFF"/>
                </a:solidFill>
                <a:latin typeface="Arial"/>
              </a:defRPr>
            </a:pPr>
            <a:r>
              <a:t>Integrated with a Google Colab Sandbox environment for instant execution and verify testing.</a:t>
            </a:r>
          </a:p>
          <a:p>
            <a:pPr>
              <a:defRPr b="1" sz="1800">
                <a:solidFill>
                  <a:srgbClr val="00F2FE"/>
                </a:solidFill>
                <a:latin typeface="Arial"/>
              </a:defRPr>
            </a:pPr>
            <a:r>
              <a:t>What differentiates your approach from traditional systems?</a:t>
            </a:r>
          </a:p>
          <a:p>
            <a:pPr lvl="1">
              <a:defRPr b="0" sz="1500">
                <a:solidFill>
                  <a:srgbClr val="FFFFFF"/>
                </a:solidFill>
                <a:latin typeface="Arial"/>
              </a:defRPr>
            </a:pPr>
            <a:r>
              <a:t>Trust factor modifier (endorsements &amp; duration) to weed out keyword stuffers.</a:t>
            </a:r>
          </a:p>
          <a:p>
            <a:pPr lvl="1">
              <a:defRPr b="0" sz="1500">
                <a:solidFill>
                  <a:srgbClr val="FFFFFF"/>
                </a:solidFill>
                <a:latin typeface="Arial"/>
              </a:defRPr>
            </a:pPr>
            <a:r>
              <a:t>Hard timeline collision checks preventing honeypot entries (0% honeypot rate in Top 100).</a:t>
            </a:r>
          </a:p>
          <a:p>
            <a:pPr lvl="1">
              <a:defRPr b="0" sz="1500">
                <a:solidFill>
                  <a:srgbClr val="FFFFFF"/>
                </a:solidFill>
                <a:latin typeface="Arial"/>
              </a:defRPr>
            </a:pPr>
            <a:r>
              <a:t>Multiplicative modifiers (activity, notice, relocation) weighting availability dynamically.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F2FE"/>
                </a:solidFill>
                <a:latin typeface="Arial"/>
              </a:defRPr>
            </a:pPr>
            <a:r>
              <a:t>JD Understanding &amp; Candidate Evaluation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800">
                <a:solidFill>
                  <a:srgbClr val="00F2FE"/>
                </a:solidFill>
                <a:latin typeface="Arial"/>
              </a:defRPr>
            </a:pPr>
            <a:r>
              <a:t>What are the key requirements extracted from the JD?</a:t>
            </a:r>
          </a:p>
          <a:p>
            <a:pPr lvl="1">
              <a:defRPr b="0" sz="1500">
                <a:solidFill>
                  <a:srgbClr val="FFFFFF"/>
                </a:solidFill>
                <a:latin typeface="Arial"/>
              </a:defRPr>
            </a:pPr>
            <a:r>
              <a:t>Senior AI Engineer, optimal experience level of 5-9 years.</a:t>
            </a:r>
          </a:p>
          <a:p>
            <a:pPr lvl="1">
              <a:defRPr b="0" sz="1500">
                <a:solidFill>
                  <a:srgbClr val="FFFFFF"/>
                </a:solidFill>
                <a:latin typeface="Arial"/>
              </a:defRPr>
            </a:pPr>
            <a:r>
              <a:t>Core ML/Retrieval tech (Embeddings, Vector search like FAISS/Qdrant/Milvus, NDCG metrics).</a:t>
            </a:r>
          </a:p>
          <a:p>
            <a:pPr lvl="1">
              <a:defRPr b="0" sz="1500">
                <a:solidFill>
                  <a:srgbClr val="FFFFFF"/>
                </a:solidFill>
                <a:latin typeface="Arial"/>
              </a:defRPr>
            </a:pPr>
            <a:r>
              <a:t>Disqualifies services/consulting-only backgrounds; prioritizes product startup experience.</a:t>
            </a:r>
          </a:p>
          <a:p>
            <a:pPr>
              <a:defRPr b="1" sz="1800">
                <a:solidFill>
                  <a:srgbClr val="00F2FE"/>
                </a:solidFill>
                <a:latin typeface="Arial"/>
              </a:defRPr>
            </a:pPr>
            <a:r>
              <a:t>Which candidate signals are most important for determining relevance?</a:t>
            </a:r>
          </a:p>
          <a:p>
            <a:pPr lvl="1">
              <a:defRPr b="0" sz="1500">
                <a:solidFill>
                  <a:srgbClr val="FFFFFF"/>
                </a:solidFill>
                <a:latin typeface="Arial"/>
              </a:defRPr>
            </a:pPr>
            <a:r>
              <a:t>Current title &amp; headline relevance (penalizing non-tech trap roles with AI keyword stuffing).</a:t>
            </a:r>
          </a:p>
          <a:p>
            <a:pPr lvl="1">
              <a:defRPr b="0" sz="1500">
                <a:solidFill>
                  <a:srgbClr val="FFFFFF"/>
                </a:solidFill>
                <a:latin typeface="Arial"/>
              </a:defRPr>
            </a:pPr>
            <a:r>
              <a:t>Engagement signals (last active date recency, response rate, interview attendance).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F2FE"/>
                </a:solidFill>
                <a:latin typeface="Arial"/>
              </a:defRPr>
            </a:pPr>
            <a:r>
              <a:t>Ranking 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800">
                <a:solidFill>
                  <a:srgbClr val="00F2FE"/>
                </a:solidFill>
                <a:latin typeface="Arial"/>
              </a:defRPr>
            </a:pPr>
            <a:r>
              <a:t>How does your system retrieve, score, and rank candidates?</a:t>
            </a:r>
          </a:p>
          <a:p>
            <a:pPr lvl="1">
              <a:defRPr b="0" sz="1500">
                <a:solidFill>
                  <a:srgbClr val="FFFFFF"/>
                </a:solidFill>
                <a:latin typeface="Arial"/>
              </a:defRPr>
            </a:pPr>
            <a:r>
              <a:t>Stream-loads candidates to bypass RAM limits -&gt; applies honeypot filter -&gt; computes scores -&gt; sorts descending.</a:t>
            </a:r>
          </a:p>
          <a:p>
            <a:pPr>
              <a:defRPr b="1" sz="1800">
                <a:solidFill>
                  <a:srgbClr val="00F2FE"/>
                </a:solidFill>
                <a:latin typeface="Arial"/>
              </a:defRPr>
            </a:pPr>
            <a:r>
              <a:t>What models, algorithms, or heuristics are used?</a:t>
            </a:r>
          </a:p>
          <a:p>
            <a:pPr lvl="1">
              <a:defRPr b="0" sz="1500">
                <a:solidFill>
                  <a:srgbClr val="FFFFFF"/>
                </a:solidFill>
                <a:latin typeface="Arial"/>
              </a:defRPr>
            </a:pPr>
            <a:r>
              <a:t>Final Score = (Title_Score * 40 + Exp_Score * 20 + Skill_Score) * Location * Notice * Engagement * Product_Mult.</a:t>
            </a:r>
          </a:p>
          <a:p>
            <a:pPr lvl="1">
              <a:defRPr b="0" sz="1500">
                <a:solidFill>
                  <a:srgbClr val="FFFFFF"/>
                </a:solidFill>
                <a:latin typeface="Arial"/>
              </a:defRPr>
            </a:pPr>
            <a:r>
              <a:t>Multiplicative weights ensure that inactive candidates or high notice periods are downweighted naturally.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F2FE"/>
                </a:solidFill>
                <a:latin typeface="Arial"/>
              </a:defRPr>
            </a:pPr>
            <a:r>
              <a:t>Explainability &amp; Data Validation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800">
                <a:solidFill>
                  <a:srgbClr val="00F2FE"/>
                </a:solidFill>
                <a:latin typeface="Arial"/>
              </a:defRPr>
            </a:pPr>
            <a:r>
              <a:t>How are ranking decisions explained?</a:t>
            </a:r>
          </a:p>
          <a:p>
            <a:pPr lvl="1">
              <a:defRPr b="0" sz="1500">
                <a:solidFill>
                  <a:srgbClr val="FFFFFF"/>
                </a:solidFill>
                <a:latin typeface="Arial"/>
              </a:defRPr>
            </a:pPr>
            <a:r>
              <a:t>Programmatically generates a customized, 1-2 sentence reasoning text referencing specific profile facts.</a:t>
            </a:r>
          </a:p>
          <a:p>
            <a:pPr>
              <a:defRPr b="1" sz="1800">
                <a:solidFill>
                  <a:srgbClr val="00F2FE"/>
                </a:solidFill>
                <a:latin typeface="Arial"/>
              </a:defRPr>
            </a:pPr>
            <a:r>
              <a:t>How do you prevent hallucinations or unsupported justifications?</a:t>
            </a:r>
          </a:p>
          <a:p>
            <a:pPr lvl="1">
              <a:defRPr b="0" sz="1500">
                <a:solidFill>
                  <a:srgbClr val="FFFFFF"/>
                </a:solidFill>
                <a:latin typeface="Arial"/>
              </a:defRPr>
            </a:pPr>
            <a:r>
              <a:t>Direct fact extraction from validated profile fields (no LLM text generation), eliminating hallucination risk.</a:t>
            </a:r>
          </a:p>
          <a:p>
            <a:pPr>
              <a:defRPr b="1" sz="1800">
                <a:solidFill>
                  <a:srgbClr val="00F2FE"/>
                </a:solidFill>
                <a:latin typeface="Arial"/>
              </a:defRPr>
            </a:pPr>
            <a:r>
              <a:t>How does your solution handle inconsistent or low-quality profiles?</a:t>
            </a:r>
          </a:p>
          <a:p>
            <a:pPr lvl="1">
              <a:defRPr b="0" sz="1500">
                <a:solidFill>
                  <a:srgbClr val="FFFFFF"/>
                </a:solidFill>
                <a:latin typeface="Arial"/>
              </a:defRPr>
            </a:pPr>
            <a:r>
              <a:t>Honeypot Filter instantly drops timeline inconsistencies (working before starting college, salary min &gt; max).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F2FE"/>
                </a:solidFill>
                <a:latin typeface="Arial"/>
              </a:defRPr>
            </a:pPr>
            <a:r>
              <a:t>End-to-End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800">
                <a:solidFill>
                  <a:srgbClr val="00F2FE"/>
                </a:solidFill>
                <a:latin typeface="Arial"/>
              </a:defRPr>
            </a:pPr>
            <a:r>
              <a:t>What is the complete workflow from JD input to ranked candidate output?</a:t>
            </a:r>
          </a:p>
          <a:p>
            <a:pPr lvl="1">
              <a:defRPr b="0" sz="1500">
                <a:solidFill>
                  <a:srgbClr val="FFFFFF"/>
                </a:solidFill>
                <a:latin typeface="Arial"/>
              </a:defRPr>
            </a:pPr>
            <a:r>
              <a:t>1. Parse Target JD Constraints (Title, skills, experience, location, company type).</a:t>
            </a:r>
          </a:p>
          <a:p>
            <a:pPr lvl="1">
              <a:defRPr b="0" sz="1500">
                <a:solidFill>
                  <a:srgbClr val="FFFFFF"/>
                </a:solidFill>
                <a:latin typeface="Arial"/>
              </a:defRPr>
            </a:pPr>
            <a:r>
              <a:t>2. Read candidates.jsonl streamingly to maintain a minimal memory footprint.</a:t>
            </a:r>
          </a:p>
          <a:p>
            <a:pPr lvl="1">
              <a:defRPr b="0" sz="1500">
                <a:solidFill>
                  <a:srgbClr val="FFFFFF"/>
                </a:solidFill>
                <a:latin typeface="Arial"/>
              </a:defRPr>
            </a:pPr>
            <a:r>
              <a:t>3. Filter out honeypots/anomalies (timeline conflicts, zero-duration skills, salary inconsistencies).</a:t>
            </a:r>
          </a:p>
          <a:p>
            <a:pPr lvl="1">
              <a:defRPr b="0" sz="1500">
                <a:solidFill>
                  <a:srgbClr val="FFFFFF"/>
                </a:solidFill>
                <a:latin typeface="Arial"/>
              </a:defRPr>
            </a:pPr>
            <a:r>
              <a:t>4. Score title, experience, and skills (using endorsement and duration trust factors).</a:t>
            </a:r>
          </a:p>
          <a:p>
            <a:pPr lvl="1">
              <a:defRPr b="0" sz="1500">
                <a:solidFill>
                  <a:srgbClr val="FFFFFF"/>
                </a:solidFill>
                <a:latin typeface="Arial"/>
              </a:defRPr>
            </a:pPr>
            <a:r>
              <a:t>5. Apply logistics and behavioral signal modifiers (willingness to relocate, notice period, active logins).</a:t>
            </a:r>
          </a:p>
          <a:p>
            <a:pPr lvl="1">
              <a:defRPr b="0" sz="1500">
                <a:solidFill>
                  <a:srgbClr val="FFFFFF"/>
                </a:solidFill>
                <a:latin typeface="Arial"/>
              </a:defRPr>
            </a:pPr>
            <a:r>
              <a:t>6. Deterministically sort results, generate fact-based reasoning, and output valid CSV.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F2FE"/>
                </a:solidFill>
                <a:latin typeface="Arial"/>
              </a:defRPr>
            </a:pPr>
            <a:r>
              <a:t>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800">
                <a:solidFill>
                  <a:srgbClr val="00F2FE"/>
                </a:solidFill>
                <a:latin typeface="Arial"/>
              </a:defRPr>
            </a:pPr>
            <a:r>
              <a:t>System Modules &amp; Roles:</a:t>
            </a:r>
          </a:p>
          <a:p>
            <a:pPr lvl="1">
              <a:defRPr b="0" sz="1500">
                <a:solidFill>
                  <a:srgbClr val="FFFFFF"/>
                </a:solidFill>
                <a:latin typeface="Arial"/>
              </a:defRPr>
            </a:pPr>
            <a:r>
              <a:t>Unified Data Parser: Handles both standard JSON arrays and JSON Lines (bulk 100K).</a:t>
            </a:r>
          </a:p>
          <a:p>
            <a:pPr lvl="1">
              <a:defRPr b="0" sz="1500">
                <a:solidFill>
                  <a:srgbClr val="FFFFFF"/>
                </a:solidFill>
                <a:latin typeface="Arial"/>
              </a:defRPr>
            </a:pPr>
            <a:r>
              <a:t>Honeypot Guard Mod: Applies strict temporal rules checking for date/duration overlaps.</a:t>
            </a:r>
          </a:p>
          <a:p>
            <a:pPr lvl="1">
              <a:defRPr b="0" sz="1500">
                <a:solidFill>
                  <a:srgbClr val="FFFFFF"/>
                </a:solidFill>
                <a:latin typeface="Arial"/>
              </a:defRPr>
            </a:pPr>
            <a:r>
              <a:t>Scoring Engine: Calculates title weights, optimal experience curve, and trust-weighted skill scores.</a:t>
            </a:r>
          </a:p>
          <a:p>
            <a:pPr lvl="1">
              <a:defRPr b="0" sz="1500">
                <a:solidFill>
                  <a:srgbClr val="FFFFFF"/>
                </a:solidFill>
                <a:latin typeface="Arial"/>
              </a:defRPr>
            </a:pPr>
            <a:r>
              <a:t>Logistics &amp; Modifier Mod: Applies notice period, relocation, and login activity coefficients.</a:t>
            </a:r>
          </a:p>
          <a:p>
            <a:pPr lvl="1">
              <a:defRPr b="0" sz="1500">
                <a:solidFill>
                  <a:srgbClr val="FFFFFF"/>
                </a:solidFill>
                <a:latin typeface="Arial"/>
              </a:defRPr>
            </a:pPr>
            <a:r>
              <a:t>Output Generator &amp; Validator: Compiles ranked CSV and executes format compliance checks.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F2FE"/>
                </a:solidFill>
                <a:latin typeface="Arial"/>
              </a:defRPr>
            </a:pPr>
            <a:r>
              <a:t>Results &amp; Performance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800">
                <a:solidFill>
                  <a:srgbClr val="00F2FE"/>
                </a:solidFill>
                <a:latin typeface="Arial"/>
              </a:defRPr>
            </a:pPr>
            <a:r>
              <a:t>What results demonstrate ranking quality?</a:t>
            </a:r>
          </a:p>
          <a:p>
            <a:pPr lvl="1">
              <a:defRPr b="0" sz="1500">
                <a:solidFill>
                  <a:srgbClr val="FFFFFF"/>
                </a:solidFill>
                <a:latin typeface="Arial"/>
              </a:defRPr>
            </a:pPr>
            <a:r>
              <a:t>0% Honeypot rate: Discarded all 23,132 fake profiles from the final recommendations.</a:t>
            </a:r>
          </a:p>
          <a:p>
            <a:pPr lvl="1">
              <a:defRPr b="0" sz="1500">
                <a:solidFill>
                  <a:srgbClr val="FFFFFF"/>
                </a:solidFill>
                <a:latin typeface="Arial"/>
              </a:defRPr>
            </a:pPr>
            <a:r>
              <a:t>Top matches (e.g. CAND_0068811) perfectly align with Senior AI Engineer title, product company experience (Freshworks), 8.0 years of experience, and active login state.</a:t>
            </a:r>
          </a:p>
          <a:p>
            <a:pPr>
              <a:defRPr b="1" sz="1800">
                <a:solidFill>
                  <a:srgbClr val="00F2FE"/>
                </a:solidFill>
                <a:latin typeface="Arial"/>
              </a:defRPr>
            </a:pPr>
            <a:r>
              <a:t>How does your solution meet runtime and compute constraints?</a:t>
            </a:r>
          </a:p>
          <a:p>
            <a:pPr lvl="1">
              <a:defRPr b="0" sz="1500">
                <a:solidFill>
                  <a:srgbClr val="FFFFFF"/>
                </a:solidFill>
                <a:latin typeface="Arial"/>
              </a:defRPr>
            </a:pPr>
            <a:r>
              <a:t>CPU-Only, 100% Offline: No external network/API overheads.</a:t>
            </a:r>
          </a:p>
          <a:p>
            <a:pPr lvl="1">
              <a:defRPr b="0" sz="1500">
                <a:solidFill>
                  <a:srgbClr val="FFFFFF"/>
                </a:solidFill>
                <a:latin typeface="Arial"/>
              </a:defRPr>
            </a:pPr>
            <a:r>
              <a:t>15 Seconds runtime (well within 5-minute budget) and &lt;80MB RAM footprint (well within 16GB limit).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F2FE"/>
                </a:solidFill>
                <a:latin typeface="Arial"/>
              </a:defRPr>
            </a:pPr>
            <a:r>
              <a:t>Technologies Used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800">
                <a:solidFill>
                  <a:srgbClr val="00F2FE"/>
                </a:solidFill>
                <a:latin typeface="Arial"/>
              </a:defRPr>
            </a:pPr>
            <a:r>
              <a:t>Technologies, frameworks, and tools selected:</a:t>
            </a:r>
          </a:p>
          <a:p>
            <a:pPr lvl="1">
              <a:defRPr b="0" sz="1500">
                <a:solidFill>
                  <a:srgbClr val="FFFFFF"/>
                </a:solidFill>
                <a:latin typeface="Arial"/>
              </a:defRPr>
            </a:pPr>
            <a:r>
              <a:t>Python 3: Main execution language (standard libraries only, lightweight and ultra-fast).</a:t>
            </a:r>
          </a:p>
          <a:p>
            <a:pPr lvl="1">
              <a:defRPr b="0" sz="1500">
                <a:solidFill>
                  <a:srgbClr val="FFFFFF"/>
                </a:solidFill>
                <a:latin typeface="Arial"/>
              </a:defRPr>
            </a:pPr>
            <a:r>
              <a:t>Pandas: Loading, validating, and displaying structured data inside the sandbox notebook.</a:t>
            </a:r>
          </a:p>
          <a:p>
            <a:pPr lvl="1">
              <a:defRPr b="0" sz="1500">
                <a:solidFill>
                  <a:srgbClr val="FFFFFF"/>
                </a:solidFill>
                <a:latin typeface="Arial"/>
              </a:defRPr>
            </a:pPr>
            <a:r>
              <a:t>Streamlit: Powering the local sandbox discovery app (app.py) for interactive inspection.</a:t>
            </a:r>
          </a:p>
          <a:p>
            <a:pPr lvl="1">
              <a:defRPr b="0" sz="1500">
                <a:solidFill>
                  <a:srgbClr val="FFFFFF"/>
                </a:solidFill>
                <a:latin typeface="Arial"/>
              </a:defRPr>
            </a:pPr>
            <a:r>
              <a:t>Git: Code version control and publishing tracking on GitHub.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F2FE"/>
                </a:solidFill>
                <a:latin typeface="Arial"/>
              </a:defRPr>
            </a:pPr>
            <a:r>
              <a:t>Submission Assets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800">
                <a:solidFill>
                  <a:srgbClr val="00F2FE"/>
                </a:solidFill>
                <a:latin typeface="Arial"/>
              </a:defRPr>
            </a:pPr>
            <a:r>
              <a:t>Links to core project assets:</a:t>
            </a:r>
          </a:p>
          <a:p>
            <a:pPr lvl="1">
              <a:defRPr b="0" sz="1500">
                <a:solidFill>
                  <a:srgbClr val="FFFFFF"/>
                </a:solidFill>
                <a:latin typeface="Arial"/>
              </a:defRPr>
            </a:pPr>
            <a:r>
              <a:t>GitHub Repository: https://github.com/RakeshRocky0/redrob-ranking</a:t>
            </a:r>
          </a:p>
          <a:p>
            <a:pPr lvl="1">
              <a:defRPr b="0" sz="1500">
                <a:solidFill>
                  <a:srgbClr val="FFFFFF"/>
                </a:solidFill>
                <a:latin typeface="Arial"/>
              </a:defRPr>
            </a:pPr>
            <a:r>
              <a:t>Google Colab Sandbox: https://colab.research.google.com/drive/1FtZdtYTkZwkfcSom1JRoqcjJw9DAbrat?usp=sharing</a:t>
            </a:r>
          </a:p>
          <a:p>
            <a:pPr lvl="1">
              <a:defRPr b="0" sz="1500">
                <a:solidFill>
                  <a:srgbClr val="FFFFFF"/>
                </a:solidFill>
                <a:latin typeface="Arial"/>
              </a:defRPr>
            </a:pPr>
            <a:r>
              <a:t>Output File: submission.csv (100 rows containing validated ranks, scores, and reasonings).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7315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6400" b="1">
                <a:solidFill>
                  <a:srgbClr val="00F2FE"/>
                </a:solidFill>
                <a:latin typeface="Arial"/>
              </a:defRPr>
            </a:pPr>
            <a:r>
              <a:t>INDIA.RUNS</a:t>
            </a:r>
          </a:p>
          <a:p>
            <a:pPr algn="l">
              <a:defRPr sz="4000" b="1">
                <a:solidFill>
                  <a:srgbClr val="FFFFFF"/>
                </a:solidFill>
                <a:latin typeface="Arial"/>
              </a:defRPr>
            </a:pPr>
            <a: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